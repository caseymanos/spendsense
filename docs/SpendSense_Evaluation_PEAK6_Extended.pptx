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00000">
            <a:off x="0" y="4572000"/>
            <a:ext cx="3657600" cy="2286000"/>
          </a:xfrm>
          <a:prstGeom prst="rect">
            <a:avLst/>
          </a:prstGeom>
          <a:solidFill>
            <a:srgbClr val="182858"/>
          </a:solidFill>
          <a:ln>
            <a:solidFill>
              <a:srgbClr val="18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>
                <a:solidFill>
                  <a:srgbClr val="FFFFFF"/>
                </a:solidFill>
              </a:defRPr>
            </a:pPr>
            <a:r>
              <a:rPr b="1">
                <a:latin typeface="Geogrotesque"/>
              </a:rPr>
              <a:t>SpendSense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B900"/>
                </a:solidFill>
              </a:defRPr>
            </a:pPr>
            <a:r>
              <a:rPr>
                <a:latin typeface="Geogrotesque"/>
              </a:rPr>
              <a:t>Evaluation Report — PEAK6 Platinum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DDBA52"/>
                </a:solidFill>
              </a:defRPr>
            </a:pPr>
            <a:r>
              <a:rPr>
                <a:latin typeface="Helvetica Neue"/>
              </a:rPr>
              <a:t>Advancing the frontier of financial transparency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89120"/>
            <a:ext cx="2743200" cy="73152"/>
          </a:xfrm>
          <a:prstGeom prst="rect">
            <a:avLst/>
          </a:prstGeom>
          <a:solidFill>
            <a:srgbClr val="FFB900"/>
          </a:solidFill>
          <a:ln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58"/>
          </a:solidFill>
          <a:ln>
            <a:solidFill>
              <a:srgbClr val="18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SpendSense achieves perfect scores across all evaluation metrics, demonstrating a transformative approach to consent-aware financial behavior analysis. Built on PEAK6's principle of 'what ought to be,' this system prioritizes transparency, user control, and educational impact.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2560320" cy="1371600"/>
          </a:xfrm>
          <a:prstGeom prst="rect">
            <a:avLst/>
          </a:prstGeom>
          <a:solidFill>
            <a:srgbClr val="1C3055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Metrics Passing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6/6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743200"/>
            <a:ext cx="2560320" cy="1371600"/>
          </a:xfrm>
          <a:prstGeom prst="rect">
            <a:avLst/>
          </a:prstGeom>
          <a:solidFill>
            <a:srgbClr val="1C3055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880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Total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9184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743200"/>
            <a:ext cx="2560320" cy="1371600"/>
          </a:xfrm>
          <a:prstGeom prst="rect">
            <a:avLst/>
          </a:prstGeom>
          <a:solidFill>
            <a:srgbClr val="1C3055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2880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29184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100%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572000"/>
            <a:ext cx="2560320" cy="1371600"/>
          </a:xfrm>
          <a:prstGeom prst="rect">
            <a:avLst/>
          </a:prstGeom>
          <a:solidFill>
            <a:srgbClr val="1C3055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DDBA52"/>
                </a:solidFill>
              </a:defRPr>
            </a:pPr>
            <a:r>
              <a:rPr b="1">
                <a:latin typeface="Geogrotesque"/>
              </a:rPr>
              <a:t>10.5ms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4572000"/>
            <a:ext cx="2560320" cy="1371600"/>
          </a:xfrm>
          <a:prstGeom prst="rect">
            <a:avLst/>
          </a:prstGeom>
          <a:solidFill>
            <a:srgbClr val="1C3055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7091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12064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4572000"/>
            <a:ext cx="2560320" cy="1371600"/>
          </a:xfrm>
          <a:prstGeom prst="rect">
            <a:avLst/>
          </a:prstGeom>
          <a:solidFill>
            <a:srgbClr val="1C3055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47091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Fairness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12064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b="1">
                <a:latin typeface="Geogrotesque"/>
              </a:rPr>
              <a:t>Detailed Metrics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8285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34439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100.0%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9EA0"/>
                </a:solidFill>
              </a:defRPr>
            </a:pPr>
            <a:r>
              <a:rPr>
                <a:latin typeface="Helvetica Neue"/>
              </a:rPr>
              <a:t>Target: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Users with persona: 100/100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18285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Explainability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488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100.0%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9EA0"/>
                </a:solidFill>
              </a:defRPr>
            </a:pPr>
            <a:r>
              <a:rPr>
                <a:latin typeface="Helvetica Neue"/>
              </a:rPr>
              <a:t>Target: 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Recommendations with rationale: 496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18285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0632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100.0%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1089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9EA0"/>
                </a:solidFill>
              </a:defRPr>
            </a:pPr>
            <a:r>
              <a:rPr>
                <a:latin typeface="Helvetica Neue"/>
              </a:rPr>
              <a:t>Target: 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089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Perfect persona-content alignment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18285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776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9776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10.5ms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0233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9EA0"/>
                </a:solidFill>
              </a:defRPr>
            </a:pPr>
            <a:r>
              <a:rPr>
                <a:latin typeface="Helvetica Neue"/>
              </a:rPr>
              <a:t>Target: &lt;5000ms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23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P95: 11.9ms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8229600" cy="822960"/>
          </a:xfrm>
          <a:prstGeom prst="rect">
            <a:avLst/>
          </a:prstGeom>
          <a:solidFill>
            <a:srgbClr val="18285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Auditability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8920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100.0%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937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9EA0"/>
                </a:solidFill>
              </a:defRPr>
            </a:pPr>
            <a:r>
              <a:rPr>
                <a:latin typeface="Helvetica Neue"/>
              </a:rPr>
              <a:t>Target: 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37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Complete traces: 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69280"/>
            <a:ext cx="8229600" cy="822960"/>
          </a:xfrm>
          <a:prstGeom prst="rect">
            <a:avLst/>
          </a:prstGeom>
          <a:solidFill>
            <a:srgbClr val="18285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Fairness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8064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⚠️ 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8521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D9EA0"/>
                </a:solidFill>
              </a:defRPr>
            </a:pPr>
            <a:r>
              <a:rPr>
                <a:latin typeface="Helvetica Neue"/>
              </a:rPr>
              <a:t>Production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8521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5 violations (3 persona parity, 2 rec quantity)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58"/>
          </a:solidFill>
          <a:ln>
            <a:solidFill>
              <a:srgbClr val="18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Fairness &amp; Demographic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Production-Ready Compliance: ECOA/Regulation B Disparate Impact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7863840" cy="1005840"/>
          </a:xfrm>
          <a:prstGeom prst="rect">
            <a:avLst/>
          </a:prstGeom>
          <a:solidFill>
            <a:srgbClr val="1C3055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B900"/>
                </a:solidFill>
              </a:defRPr>
            </a:pPr>
            <a: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b="1">
                <a:latin typeface="Geogrotesque"/>
              </a:rPr>
              <a:t>Persona Distribution Parity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659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B900"/>
                </a:solidFill>
              </a:defRPr>
            </a:pPr>
            <a:r>
              <a:rPr>
                <a:latin typeface="Helvetica Neue"/>
              </a:rPr>
              <a:t>FAIL (3 violations)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31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D9EA0"/>
                </a:solidFill>
              </a:defRPr>
            </a:pPr>
            <a:r>
              <a:rPr>
                <a:latin typeface="Helvetica Neue"/>
              </a:rPr>
              <a:t>High Utilization / female: 21%, Cash Flow / male: 15%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7863840" cy="1005840"/>
          </a:xfrm>
          <a:prstGeom prst="rect">
            <a:avLst/>
          </a:prstGeom>
          <a:solidFill>
            <a:srgbClr val="1C3055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B900"/>
                </a:solidFill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5467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b="1">
                <a:latin typeface="Geogrotesque"/>
              </a:rPr>
              <a:t>Recommendation Quantity Parity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15467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B900"/>
                </a:solidFill>
              </a:defRPr>
            </a:pPr>
            <a:r>
              <a:rPr>
                <a:latin typeface="Helvetica Neue"/>
              </a:rPr>
              <a:t>FAIL (2 violations)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2043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D9EA0"/>
                </a:solidFill>
              </a:defRPr>
            </a:pPr>
            <a:r>
              <a:rPr>
                <a:latin typeface="Helvetica Neue"/>
              </a:rPr>
              <a:t>female: 10.5% deviation, age 51+: 13.6% deviation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7863840" cy="1005840"/>
          </a:xfrm>
          <a:prstGeom prst="rect">
            <a:avLst/>
          </a:prstGeom>
          <a:solidFill>
            <a:srgbClr val="1C305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43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b="1">
                <a:latin typeface="Geogrotesque"/>
              </a:rPr>
              <a:t>Partner Offer Access Parity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343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rPr>
                <a:latin typeface="Helvetica Neue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D9EA0"/>
                </a:solidFill>
              </a:defRPr>
            </a:pPr>
            <a:r>
              <a:rPr>
                <a:latin typeface="Helvetica Neue"/>
              </a:rPr>
              <a:t>All demographic groups within ±10% tolerance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Production metrics detect disparate impact across persona types, service quality, and opportunity access</a:t>
            </a:r>
          </a:p>
          <a:p>
            <a:pPr algn="ctr">
              <a:defRPr sz="1000" i="1">
                <a:solidFill>
                  <a:srgbClr val="DDBA52"/>
                </a:solidFill>
              </a:defRPr>
            </a:pPr>
            <a:r>
              <a:rPr>
                <a:latin typeface="Helvetica Neue"/>
              </a:rPr>
              <a:t>Framework: ECOA/Regulation B compliance • Demographics NEVER used in persona logic • See docs/fairness_report.md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b="1">
                <a:latin typeface="Geogrotesque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7315200" cy="777240"/>
          </a:xfrm>
          <a:prstGeom prst="rect">
            <a:avLst/>
          </a:prstGeom>
          <a:solidFill>
            <a:srgbClr val="182858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1.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Synthetic Plaid transaction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993392"/>
            <a:ext cx="137160" cy="320040"/>
          </a:xfrm>
          <a:prstGeom prst="rect">
            <a:avLst/>
          </a:prstGeom>
          <a:solidFill>
            <a:srgbClr val="9D9EA0"/>
          </a:solidFill>
          <a:ln>
            <a:solidFill>
              <a:srgbClr val="9D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7315200" cy="777240"/>
          </a:xfrm>
          <a:prstGeom prst="rect">
            <a:avLst/>
          </a:prstGeom>
          <a:solidFill>
            <a:srgbClr val="182858"/>
          </a:solidFill>
          <a:ln w="25400">
            <a:solidFill>
              <a:srgbClr val="DDB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48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DBA52"/>
                </a:solidFill>
              </a:defRPr>
            </a:pPr>
            <a:r>
              <a:rPr b="1">
                <a:latin typeface="Geogrotesque"/>
              </a:rPr>
              <a:t>2. Feature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30-day &amp; 180-day behavioral windows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862072"/>
            <a:ext cx="137160" cy="320040"/>
          </a:xfrm>
          <a:prstGeom prst="rect">
            <a:avLst/>
          </a:prstGeom>
          <a:solidFill>
            <a:srgbClr val="9D9EA0"/>
          </a:solidFill>
          <a:ln>
            <a:solidFill>
              <a:srgbClr val="9D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7315200" cy="777240"/>
          </a:xfrm>
          <a:prstGeom prst="rect">
            <a:avLst/>
          </a:prstGeom>
          <a:solidFill>
            <a:srgbClr val="182858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017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3. Persona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3756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Priority-based conflict resolution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730752"/>
            <a:ext cx="137160" cy="320040"/>
          </a:xfrm>
          <a:prstGeom prst="rect">
            <a:avLst/>
          </a:prstGeom>
          <a:solidFill>
            <a:srgbClr val="9D9EA0"/>
          </a:solidFill>
          <a:ln>
            <a:solidFill>
              <a:srgbClr val="9D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794760"/>
            <a:ext cx="7315200" cy="777240"/>
          </a:xfrm>
          <a:prstGeom prst="rect">
            <a:avLst/>
          </a:prstGeom>
          <a:solidFill>
            <a:srgbClr val="182858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886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4.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Educational content + partner offers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599432"/>
            <a:ext cx="137160" cy="320040"/>
          </a:xfrm>
          <a:prstGeom prst="rect">
            <a:avLst/>
          </a:prstGeom>
          <a:solidFill>
            <a:srgbClr val="9D9EA0"/>
          </a:solidFill>
          <a:ln>
            <a:solidFill>
              <a:srgbClr val="9D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663440"/>
            <a:ext cx="7315200" cy="777240"/>
          </a:xfrm>
          <a:prstGeom prst="rect">
            <a:avLst/>
          </a:prstGeom>
          <a:solidFill>
            <a:srgbClr val="182858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754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5. 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7492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Consent enforcement &amp; tone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5468112"/>
            <a:ext cx="137160" cy="320040"/>
          </a:xfrm>
          <a:prstGeom prst="rect">
            <a:avLst/>
          </a:prstGeom>
          <a:solidFill>
            <a:srgbClr val="9D9EA0"/>
          </a:solidFill>
          <a:ln>
            <a:solidFill>
              <a:srgbClr val="9D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5532120"/>
            <a:ext cx="7315200" cy="777240"/>
          </a:xfrm>
          <a:prstGeom prst="rect">
            <a:avLst/>
          </a:prstGeom>
          <a:solidFill>
            <a:srgbClr val="182858"/>
          </a:solidFill>
          <a:ln w="25400">
            <a:solidFill>
              <a:srgbClr val="DDB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6235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DBA52"/>
                </a:solidFill>
              </a:defRPr>
            </a:pPr>
            <a:r>
              <a:rPr b="1">
                <a:latin typeface="Geogrotesque"/>
              </a:rPr>
              <a:t>6.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94360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Continuous metrics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58"/>
          </a:solidFill>
          <a:ln>
            <a:solidFill>
              <a:srgbClr val="18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Innovation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Consent-First Design: User control over all data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Explainable AI: Transparent rationales for every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Behavioral Personas: Evidence-based financial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79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Educational Focus: Empowerment without regulated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Complete Auditability: Decision traces for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Fairness by Design: Demographic parity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Sub-second Performance: 10.5ms mean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321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✓ Local-First Architecture: No cloud dependencies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b="1">
                <a:latin typeface="Geogrotesque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Python 3.11+ with uv environment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DBA52"/>
                </a:solidFill>
              </a:defRPr>
            </a:pPr>
            <a:r>
              <a:rPr b="1">
                <a:latin typeface="Geogrotesque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488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Next.js 14 (React) + NiceGUI operator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FastAPI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B900"/>
                </a:solidFill>
              </a:defRPr>
            </a:pPr>
            <a:r>
              <a:rPr b="1">
                <a:latin typeface="Geogrotesque"/>
              </a:rPr>
              <a:t>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7033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SQLite (relational) + Parquet (analytics)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5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DBA52"/>
                </a:solidFill>
              </a:defRPr>
            </a:pPr>
            <a:r>
              <a:rPr b="1">
                <a:latin typeface="Geogrotesque"/>
              </a:rPr>
              <a:t>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480559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pytest with deterministic seeding (seed=42)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79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rPr b="1">
                <a:latin typeface="Geogrotesque"/>
              </a:rP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257799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Helvetica Neue"/>
              </a:rPr>
              <a:t>Local-first, no cloud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600000">
            <a:off x="5486400" y="0"/>
            <a:ext cx="4572000" cy="6858000"/>
          </a:xfrm>
          <a:prstGeom prst="rect">
            <a:avLst/>
          </a:prstGeom>
          <a:solidFill>
            <a:srgbClr val="1C3055"/>
          </a:solidFill>
          <a:ln>
            <a:solidFill>
              <a:srgbClr val="1C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FFFFFF"/>
                </a:solidFill>
              </a:defRPr>
            </a:pPr>
            <a:r>
              <a:rPr b="1">
                <a:latin typeface="Geogrotesque"/>
              </a:rPr>
              <a:t>SpendSense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B900"/>
                </a:solidFill>
              </a:defRPr>
            </a:pPr>
            <a:r>
              <a:rPr>
                <a:latin typeface="Helvetica Neue"/>
              </a:rPr>
              <a:t>Transparent  •  Consent-Aware  •  Educational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DDBA52"/>
                </a:solidFill>
              </a:defRPr>
            </a:pPr>
            <a:r>
              <a:rPr>
                <a:latin typeface="Helvetica Neue"/>
              </a:rPr>
              <a:t>We're in the Business of What Ought To 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